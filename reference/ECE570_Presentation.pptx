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  <p:embeddedFont>
      <p:font typeface="Inter Tight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gbzdZUi8ZkFv6gyAbbqlu9F8F6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TightSemiBold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InterTightSemiBold-italic.fntdata"/><Relationship Id="rId27" Type="http://schemas.openxmlformats.org/officeDocument/2006/relationships/font" Target="fonts/InterTigh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Tigh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1b9885164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1b988516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1b9885164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1b9885164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1b988516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51b988516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1b988516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51b988516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1b9885164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51b9885164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1b9885164_0_145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51b9885164_0_145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g351b9885164_0_145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51b9885164_0_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51b9885164_0_150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51b9885164_0_150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51b9885164_0_150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51b9885164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1b9885164_0_15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51b9885164_0_155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51b9885164_0_155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51b9885164_0_15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51b9885164_0_15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51b9885164_0_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51b9885164_0_162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51b9885164_0_16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51b9885164_0_162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51b9885164_0_162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g351b9885164_0_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1b9885164_0_168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51b9885164_0_16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51b9885164_0_1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51b9885164_0_172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51b9885164_0_172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51b9885164_0_172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51b9885164_0_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51b9885164_0_177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g351b9885164_0_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1b9885164_0_18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51b9885164_0_18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51b9885164_0_18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51b9885164_0_18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g351b9885164_0_1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1b9885164_0_186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51b9885164_0_18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51b9885164_0_1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1b9885164_0_190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51b9885164_0_190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51b9885164_0_1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1b9885164_0_1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1b9885164_0_196"/>
          <p:cNvSpPr/>
          <p:nvPr>
            <p:ph idx="2" type="pic"/>
          </p:nvPr>
        </p:nvSpPr>
        <p:spPr>
          <a:xfrm rot="-300067">
            <a:off x="550594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2" name="Google Shape;62;g351b9885164_0_19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g351b9885164_0_19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g351b9885164_0_196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65" name="Google Shape;65;g351b9885164_0_19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6" name="Google Shape;66;g351b9885164_0_19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>
  <p:cSld name="TITLE_AND_BODY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1b9885164_0_203"/>
          <p:cNvSpPr/>
          <p:nvPr>
            <p:ph idx="2" type="pic"/>
          </p:nvPr>
        </p:nvSpPr>
        <p:spPr>
          <a:xfrm rot="299990">
            <a:off x="716184" y="2331249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" name="Google Shape;69;g351b9885164_0_203"/>
          <p:cNvSpPr/>
          <p:nvPr>
            <p:ph idx="3" type="pic"/>
          </p:nvPr>
        </p:nvSpPr>
        <p:spPr>
          <a:xfrm rot="-300269">
            <a:off x="4741291" y="2331369"/>
            <a:ext cx="3686654" cy="245556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0" name="Google Shape;70;g351b9885164_0_20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g351b9885164_0_203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2" name="Google Shape;72;g351b9885164_0_20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g351b9885164_0_20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74" name="Google Shape;74;g351b9885164_0_20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1b9885164_0_211"/>
          <p:cNvSpPr/>
          <p:nvPr>
            <p:ph idx="2" type="pic"/>
          </p:nvPr>
        </p:nvSpPr>
        <p:spPr>
          <a:xfrm rot="300107">
            <a:off x="4903270" y="846471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7" name="Google Shape;77;g351b9885164_0_21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g351b9885164_0_211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g351b9885164_0_211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0" name="Google Shape;80;g351b9885164_0_211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81" name="Google Shape;81;g351b9885164_0_211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1b9885164_0_1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51b9885164_0_1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51b9885164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48050" y="524800"/>
            <a:ext cx="7647900" cy="17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3800"/>
              <a:t>Out-of-Distribution Detection Across Centralized and Federated Models</a:t>
            </a:r>
            <a:endParaRPr sz="3200"/>
          </a:p>
        </p:txBody>
      </p:sp>
      <p:sp>
        <p:nvSpPr>
          <p:cNvPr id="87" name="Google Shape;87;p1"/>
          <p:cNvSpPr txBox="1"/>
          <p:nvPr/>
        </p:nvSpPr>
        <p:spPr>
          <a:xfrm>
            <a:off x="2704050" y="3551800"/>
            <a:ext cx="3735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ECE 570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Erjon Brucaj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1b9885164_0_220"/>
          <p:cNvSpPr txBox="1"/>
          <p:nvPr>
            <p:ph type="title"/>
          </p:nvPr>
        </p:nvSpPr>
        <p:spPr>
          <a:xfrm>
            <a:off x="5271175" y="61388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OOD Detection?</a:t>
            </a:r>
            <a:endParaRPr/>
          </a:p>
        </p:txBody>
      </p:sp>
      <p:sp>
        <p:nvSpPr>
          <p:cNvPr id="93" name="Google Shape;93;g351b9885164_0_220"/>
          <p:cNvSpPr txBox="1"/>
          <p:nvPr>
            <p:ph idx="1" type="body"/>
          </p:nvPr>
        </p:nvSpPr>
        <p:spPr>
          <a:xfrm>
            <a:off x="5223650" y="1657573"/>
            <a:ext cx="3662100" cy="32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Definition: Out-of-Distribution (OOD) detection is the task of identifying inputs that differ from the data a model was trained on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OOD inputs can come from new devices, populations, or imaging techniques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Distribution shifts can lead to wrong predictions in ML models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Ensures model safety when data shifts occur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g351b9885164_0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50" y="1144813"/>
            <a:ext cx="4870700" cy="273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1b9885164_0_289"/>
          <p:cNvSpPr txBox="1"/>
          <p:nvPr>
            <p:ph type="title"/>
          </p:nvPr>
        </p:nvSpPr>
        <p:spPr>
          <a:xfrm>
            <a:off x="5271175" y="69698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OOD Detection matter in Healthcare?</a:t>
            </a:r>
            <a:endParaRPr/>
          </a:p>
        </p:txBody>
      </p:sp>
      <p:sp>
        <p:nvSpPr>
          <p:cNvPr id="100" name="Google Shape;100;g351b9885164_0_289"/>
          <p:cNvSpPr txBox="1"/>
          <p:nvPr>
            <p:ph idx="1" type="body"/>
          </p:nvPr>
        </p:nvSpPr>
        <p:spPr>
          <a:xfrm>
            <a:off x="5223650" y="1657573"/>
            <a:ext cx="3662100" cy="27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Healthcare models often encounter unseen populations, devices, or imaging techniques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Distribution shifts can silently cause wrong predictions, risking patient safety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Reliable OOD detection is critical for deploying machine learning in real-world clinical environments.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351b9885164_0_2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50" y="1144813"/>
            <a:ext cx="4870700" cy="273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51b9885164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200" y="1264625"/>
            <a:ext cx="4485248" cy="261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"/>
          <p:cNvSpPr txBox="1"/>
          <p:nvPr>
            <p:ph type="title"/>
          </p:nvPr>
        </p:nvSpPr>
        <p:spPr>
          <a:xfrm>
            <a:off x="5204625" y="475558"/>
            <a:ext cx="3662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5204625" y="1759540"/>
            <a:ext cx="36621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Prior </a:t>
            </a:r>
            <a:r>
              <a:rPr lang="en"/>
              <a:t>work</a:t>
            </a:r>
            <a:r>
              <a:rPr lang="en"/>
              <a:t>: Park et al.: OOD detection using Mahalanobis and Gram matrix (centralized models)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FLamby: Used for realistic cross-silo healthcare datasets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This project: Extends their methods to federated learning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FedAvg: Global model aggregation in federated setups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Goal: Investigate robust OOD detection in healthcare environments</a:t>
            </a:r>
            <a:endParaRPr/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200" y="1264625"/>
            <a:ext cx="4485248" cy="261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775" y="1359700"/>
            <a:ext cx="4954849" cy="288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571025" y="825033"/>
            <a:ext cx="3662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Mechanisms for Detecting OOD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571025" y="2092000"/>
            <a:ext cx="4242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Mahalanobis Distance: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Computes distance to class mean in PCA-transformed space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Accounts for feature covariance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Gram Matrix: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Measures correlations across feature maps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Flags feature interaction anomalies</a:t>
            </a:r>
            <a:endParaRPr/>
          </a:p>
        </p:txBody>
      </p:sp>
      <p:pic>
        <p:nvPicPr>
          <p:cNvPr id="119" name="Google Shape;119;p3" title="MVOutliers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300" y="1300141"/>
            <a:ext cx="4211274" cy="254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463650" y="269525"/>
            <a:ext cx="416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Centralized vs. Federated Learning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463650" y="1468000"/>
            <a:ext cx="40242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Centralized Learning: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All data is pooled into one server and one model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Pros: Stronger model performance, easier management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Cons: Privacy risks, regulatory concerns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Federated Learning (FL):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Data stays local; only model updates are shared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Pros: Protects privacy, supports collaboration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Cons: Data differences (non-IID) can hurt performance; harder to coordinate correlations across feature maps</a:t>
            </a:r>
            <a:endParaRPr/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4" title="mathematics-11-04499-g0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1500" y="1316225"/>
            <a:ext cx="3550152" cy="270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1b9885164_0_235"/>
          <p:cNvSpPr txBox="1"/>
          <p:nvPr>
            <p:ph type="title"/>
          </p:nvPr>
        </p:nvSpPr>
        <p:spPr>
          <a:xfrm>
            <a:off x="463650" y="498050"/>
            <a:ext cx="416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Datasets &amp; Setup</a:t>
            </a:r>
            <a:endParaRPr/>
          </a:p>
        </p:txBody>
      </p:sp>
      <p:sp>
        <p:nvSpPr>
          <p:cNvPr id="133" name="Google Shape;133;g351b9885164_0_235"/>
          <p:cNvSpPr txBox="1"/>
          <p:nvPr>
            <p:ph idx="1" type="body"/>
          </p:nvPr>
        </p:nvSpPr>
        <p:spPr>
          <a:xfrm>
            <a:off x="295000" y="1468000"/>
            <a:ext cx="40242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Datasets: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HAM10000 (Skin Lesions)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PathMNIST (Histopathology Patches)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FEMNIST (Handwritten Characters)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Setup: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Subsampled 10% to fit Colab constraints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EfficientNet-B0 feature extractor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PCA applied for Mahalanobis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FedAvg used for FL experiments</a:t>
            </a:r>
            <a:endParaRPr/>
          </a:p>
        </p:txBody>
      </p:sp>
      <p:sp>
        <p:nvSpPr>
          <p:cNvPr id="134" name="Google Shape;134;g351b9885164_0_23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g351b9885164_0_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001" y="1396675"/>
            <a:ext cx="4837383" cy="25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333925" y="873350"/>
            <a:ext cx="3836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Experimental Results - Centralized Learning</a:t>
            </a:r>
            <a:endParaRPr/>
          </a:p>
        </p:txBody>
      </p:sp>
      <p:sp>
        <p:nvSpPr>
          <p:cNvPr id="142" name="Google Shape;142;p5"/>
          <p:cNvSpPr txBox="1"/>
          <p:nvPr>
            <p:ph idx="1" type="body"/>
          </p:nvPr>
        </p:nvSpPr>
        <p:spPr>
          <a:xfrm>
            <a:off x="200825" y="1949140"/>
            <a:ext cx="3662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HAM10000 vs CIFAR-10: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Mahalanobis AUROC = 4.1%, FPR@95TPR = 99.8%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Severe domain mismatch, poor separation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HAM10000 vs PathMNIST: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Mahalanobis AUROC = 43.4%, FPR@95TPR = 96%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Better but still unreliable</a:t>
            </a:r>
            <a:endParaRPr/>
          </a:p>
        </p:txBody>
      </p:sp>
      <p:pic>
        <p:nvPicPr>
          <p:cNvPr id="143" name="Google Shape;14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702" y="2571749"/>
            <a:ext cx="3371350" cy="243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975" y="220175"/>
            <a:ext cx="3100101" cy="22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1b9885164_0_24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g351b9885164_0_246"/>
          <p:cNvSpPr txBox="1"/>
          <p:nvPr>
            <p:ph type="title"/>
          </p:nvPr>
        </p:nvSpPr>
        <p:spPr>
          <a:xfrm>
            <a:off x="333925" y="873350"/>
            <a:ext cx="3836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Experimental Results - Federated Learning</a:t>
            </a:r>
            <a:endParaRPr/>
          </a:p>
        </p:txBody>
      </p:sp>
      <p:sp>
        <p:nvSpPr>
          <p:cNvPr id="151" name="Google Shape;151;g351b9885164_0_246"/>
          <p:cNvSpPr txBox="1"/>
          <p:nvPr>
            <p:ph idx="1" type="body"/>
          </p:nvPr>
        </p:nvSpPr>
        <p:spPr>
          <a:xfrm>
            <a:off x="143075" y="2186650"/>
            <a:ext cx="43629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FEMNIST (Single Client vs. FedAvg):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Single Client: Mahalanobis AUROC = 54.9%.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FedAvg Aggregated: Mahalanobis AUROC = 71.9%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FEMNIST (FedAvg, Gram Matrix):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AUROC = 81.3%, FPR@95TPR = 61.6%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Best performance across all setups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HAM10000 (Federated Mahalanobis):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AUROC = 62%, FPR@95TPR = 96%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Still struggles from visual similarity in lesion dataset</a:t>
            </a:r>
            <a:endParaRPr/>
          </a:p>
        </p:txBody>
      </p:sp>
      <p:pic>
        <p:nvPicPr>
          <p:cNvPr id="152" name="Google Shape;152;g351b9885164_0_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5975" y="582081"/>
            <a:ext cx="4067450" cy="34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6"/>
          <p:cNvSpPr txBox="1"/>
          <p:nvPr>
            <p:ph type="title"/>
          </p:nvPr>
        </p:nvSpPr>
        <p:spPr>
          <a:xfrm>
            <a:off x="5555250" y="458200"/>
            <a:ext cx="29346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59" name="Google Shape;159;p6"/>
          <p:cNvSpPr txBox="1"/>
          <p:nvPr>
            <p:ph idx="1" type="body"/>
          </p:nvPr>
        </p:nvSpPr>
        <p:spPr>
          <a:xfrm>
            <a:off x="5191500" y="1947615"/>
            <a:ext cx="3662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Mahalanobis distance struggles with major domain shifts.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Federated averaging (FedAvg) improves feature alignment.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Gram matrix offers better robustness in FL settings.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OOD detection is still challenging for clinical imaging.</a:t>
            </a:r>
            <a:endParaRPr/>
          </a:p>
        </p:txBody>
      </p:sp>
      <p:pic>
        <p:nvPicPr>
          <p:cNvPr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192" y="1130913"/>
            <a:ext cx="4493608" cy="288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1b9885164_0_26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g351b9885164_0_262"/>
          <p:cNvSpPr txBox="1"/>
          <p:nvPr>
            <p:ph type="title"/>
          </p:nvPr>
        </p:nvSpPr>
        <p:spPr>
          <a:xfrm>
            <a:off x="5555250" y="529575"/>
            <a:ext cx="29346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67" name="Google Shape;167;g351b9885164_0_262"/>
          <p:cNvSpPr txBox="1"/>
          <p:nvPr>
            <p:ph idx="1" type="body"/>
          </p:nvPr>
        </p:nvSpPr>
        <p:spPr>
          <a:xfrm>
            <a:off x="5350425" y="1830875"/>
            <a:ext cx="3503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Explore more advanced OOD Detection methods (energy-based models, deep ensembles)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Try federated algorithms beyond FedAvg (FedProx, personalized FL)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Test across broader domains (finance, satellite imaging)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Scale up with full datasets</a:t>
            </a:r>
            <a:endParaRPr/>
          </a:p>
        </p:txBody>
      </p:sp>
      <p:pic>
        <p:nvPicPr>
          <p:cNvPr id="168" name="Google Shape;168;g351b9885164_0_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500" y="1274275"/>
            <a:ext cx="482917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7"/>
          <p:cNvSpPr txBox="1"/>
          <p:nvPr>
            <p:ph type="title"/>
          </p:nvPr>
        </p:nvSpPr>
        <p:spPr>
          <a:xfrm>
            <a:off x="2740950" y="932608"/>
            <a:ext cx="3662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3446500" y="23254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